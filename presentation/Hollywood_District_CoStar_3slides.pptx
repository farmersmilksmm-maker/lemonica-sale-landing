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CC558"/>
                </a:solidFill>
                <a:latin typeface="Arial"/>
              </a:rPr>
              <a:t>ГОЛЛИВУД · ФЛОРИДА ·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 i="0">
                <a:solidFill>
                  <a:srgbClr val="FFFDF6"/>
                </a:solidFill>
                <a:latin typeface="Georgia"/>
              </a:rPr>
              <a:t>Район растёт: </a:t>
            </a:r>
            <a:r>
              <a:rPr sz="4000" b="1" i="0">
                <a:solidFill>
                  <a:srgbClr val="E3B62C"/>
                </a:solidFill>
                <a:latin typeface="Georgia"/>
              </a:rPr>
              <a:t>+</a:t>
            </a:r>
            <a:r>
              <a:rPr sz="4000" b="1" i="0">
                <a:solidFill>
                  <a:srgbClr val="E3B62C"/>
                </a:solidFill>
                <a:latin typeface="Georgia"/>
              </a:rPr>
              <a:t>7–9% населения</a:t>
            </a:r>
            <a:r>
              <a:rPr sz="4000" b="1" i="0">
                <a:solidFill>
                  <a:srgbClr val="FFFDF6"/>
                </a:solidFill>
                <a:latin typeface="Georgia"/>
              </a:rPr>
              <a:t> к 2030 году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9B9786"/>
                </a:solidFill>
                <a:latin typeface="Arial"/>
              </a:rPr>
              <a:t>Население в радиусе ресторана (CoStar, прогноз 2025 → 2030)</a:t>
            </a:r>
          </a:p>
        </p:txBody>
      </p:sp>
      <p:sp>
        <p:nvSpPr>
          <p:cNvPr id="6" name="Rectangle 5"/>
          <p:cNvSpPr/>
          <p:nvPr/>
        </p:nvSpPr>
        <p:spPr>
          <a:xfrm>
            <a:off x="1325880" y="5023378"/>
            <a:ext cx="566928" cy="188701"/>
          </a:xfrm>
          <a:prstGeom prst="rect">
            <a:avLst/>
          </a:prstGeom>
          <a:solidFill>
            <a:srgbClr val="4A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65960" y="5009813"/>
            <a:ext cx="566928" cy="202266"/>
          </a:xfrm>
          <a:prstGeom prst="rect">
            <a:avLst/>
          </a:prstGeom>
          <a:solidFill>
            <a:srgbClr val="E3B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71248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9B9786"/>
                </a:solidFill>
                <a:latin typeface="Arial"/>
              </a:rPr>
              <a:t>94 тыс.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4698917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ECC558"/>
                </a:solidFill>
                <a:latin typeface="Arial"/>
              </a:rPr>
              <a:t>101 тыс.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513832"/>
            <a:ext cx="185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DF6"/>
                </a:solidFill>
                <a:latin typeface="Arial"/>
              </a:rPr>
              <a:t>2 мили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916168"/>
            <a:ext cx="185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E3B62C"/>
                </a:solidFill>
                <a:latin typeface="Georgia"/>
              </a:rPr>
              <a:t>+7,2%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42360" y="4444434"/>
            <a:ext cx="566928" cy="767645"/>
          </a:xfrm>
          <a:prstGeom prst="rect">
            <a:avLst/>
          </a:prstGeom>
          <a:solidFill>
            <a:srgbClr val="4A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2440" y="4377974"/>
            <a:ext cx="566928" cy="834105"/>
          </a:xfrm>
          <a:prstGeom prst="rect">
            <a:avLst/>
          </a:prstGeom>
          <a:solidFill>
            <a:srgbClr val="E3B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9480" y="413353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9B9786"/>
                </a:solidFill>
                <a:latin typeface="Arial"/>
              </a:rPr>
              <a:t>383 тыс.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9560" y="406707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ECC558"/>
                </a:solidFill>
                <a:latin typeface="Arial"/>
              </a:rPr>
              <a:t>416 тыс.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8040" y="5513832"/>
            <a:ext cx="185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DF6"/>
                </a:solidFill>
                <a:latin typeface="Arial"/>
              </a:rPr>
              <a:t>5 миль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68040" y="5916168"/>
            <a:ext cx="185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E3B62C"/>
                </a:solidFill>
                <a:latin typeface="Georgia"/>
              </a:rPr>
              <a:t>+8,7%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58840" y="2792411"/>
            <a:ext cx="566928" cy="2419668"/>
          </a:xfrm>
          <a:prstGeom prst="rect">
            <a:avLst/>
          </a:prstGeom>
          <a:solidFill>
            <a:srgbClr val="4A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98920" y="2610518"/>
            <a:ext cx="566928" cy="2601561"/>
          </a:xfrm>
          <a:prstGeom prst="rect">
            <a:avLst/>
          </a:prstGeom>
          <a:solidFill>
            <a:srgbClr val="E3B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5960" y="2481515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9B9786"/>
                </a:solidFill>
                <a:latin typeface="Arial"/>
              </a:rPr>
              <a:t>1.21 млн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6040" y="229962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ECC558"/>
                </a:solidFill>
                <a:latin typeface="Arial"/>
              </a:rPr>
              <a:t>1.30 млн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84520" y="5513832"/>
            <a:ext cx="185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DF6"/>
                </a:solidFill>
                <a:latin typeface="Arial"/>
              </a:rPr>
              <a:t>10 миль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84520" y="5916168"/>
            <a:ext cx="185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E3B62C"/>
                </a:solidFill>
                <a:latin typeface="Georgia"/>
              </a:rPr>
              <a:t>+7,5%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235000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A4A30"/>
                </a:solidFill>
                <a:latin typeface="Arial"/>
              </a:rPr>
              <a:t>■ </a:t>
            </a:r>
            <a:r>
              <a:rPr sz="1100" b="0" i="0">
                <a:solidFill>
                  <a:srgbClr val="9B9786"/>
                </a:solidFill>
                <a:latin typeface="Arial"/>
              </a:rPr>
              <a:t>2025    </a:t>
            </a:r>
            <a:r>
              <a:rPr sz="1100" b="0" i="0">
                <a:solidFill>
                  <a:srgbClr val="E3B62C"/>
                </a:solidFill>
                <a:latin typeface="Arial"/>
              </a:rPr>
              <a:t>■ </a:t>
            </a:r>
            <a:r>
              <a:rPr sz="1100" b="0" i="0">
                <a:solidFill>
                  <a:srgbClr val="9B9786"/>
                </a:solidFill>
                <a:latin typeface="Arial"/>
              </a:rPr>
              <a:t>2030 (прогноз)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75320" y="2514600"/>
            <a:ext cx="3383280" cy="1417320"/>
          </a:xfrm>
          <a:prstGeom prst="roundRect">
            <a:avLst>
              <a:gd name="adj" fmla="val 7000"/>
            </a:avLst>
          </a:prstGeom>
          <a:solidFill>
            <a:srgbClr val="1E1E12"/>
          </a:solidFill>
          <a:ln w="12700">
            <a:solidFill>
              <a:srgbClr val="3A3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2" y="2734056"/>
            <a:ext cx="2871216" cy="905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E3B62C"/>
                </a:solidFill>
                <a:latin typeface="Georgia"/>
              </a:rPr>
              <a:t>1,30 млн</a:t>
            </a:r>
          </a:p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DF6"/>
                </a:solidFill>
                <a:latin typeface="Arial"/>
              </a:rPr>
              <a:t>жителей в радиусе 10 миль — 2030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B9786"/>
                </a:solidFill>
                <a:latin typeface="Arial"/>
              </a:rPr>
              <a:t>сегодня 1,21 млн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75320" y="4069080"/>
            <a:ext cx="3383280" cy="1417320"/>
          </a:xfrm>
          <a:prstGeom prst="roundRect">
            <a:avLst>
              <a:gd name="adj" fmla="val 7000"/>
            </a:avLst>
          </a:prstGeom>
          <a:solidFill>
            <a:srgbClr val="1E1E12"/>
          </a:solidFill>
          <a:ln w="12700">
            <a:solidFill>
              <a:srgbClr val="3A3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31352" y="4288536"/>
            <a:ext cx="2871216" cy="905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E3B62C"/>
                </a:solidFill>
                <a:latin typeface="Georgia"/>
              </a:rPr>
              <a:t>+33 000</a:t>
            </a:r>
          </a:p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DF6"/>
                </a:solidFill>
                <a:latin typeface="Arial"/>
              </a:rPr>
              <a:t>новых соседей ресторана за 5 лет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B9786"/>
                </a:solidFill>
                <a:latin typeface="Arial"/>
              </a:rPr>
              <a:t>только в радиусе 2 миль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19088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B9786"/>
                </a:solidFill>
                <a:latin typeface="Arial"/>
              </a:rPr>
              <a:t>Источник: CoStar Group, Multi-Family Market Report (Fort Lauderdale, Q3 2026), демография по радиусу 1801–1848 N Young Cir, отчёт от 02.09.2026 · PDF: PDF090226_CoStar_YoungCircle.pdf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92840" y="6419088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B9786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CC558"/>
                </a:solidFill>
                <a:latin typeface="Arial"/>
              </a:rPr>
              <a:t>ГОЛЛИВУД · ФЛОРИДА ·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 i="0">
                <a:solidFill>
                  <a:srgbClr val="FFFDF6"/>
                </a:solidFill>
                <a:latin typeface="Georgia"/>
              </a:rPr>
              <a:t>Кто живет рядом: </a:t>
            </a:r>
            <a:r>
              <a:rPr sz="4000" b="1" i="0">
                <a:solidFill>
                  <a:srgbClr val="E3B62C"/>
                </a:solidFill>
                <a:latin typeface="Georgia"/>
              </a:rPr>
              <a:t>средний класс с доходом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9B9786"/>
                </a:solidFill>
                <a:latin typeface="Arial"/>
              </a:rPr>
              <a:t>Доходы, возраст и жильё вокруг Young Circle (CoStar, 2025)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60320"/>
            <a:ext cx="3566160" cy="1737360"/>
          </a:xfrm>
          <a:prstGeom prst="roundRect">
            <a:avLst>
              <a:gd name="adj" fmla="val 7000"/>
            </a:avLst>
          </a:prstGeom>
          <a:solidFill>
            <a:srgbClr val="1E1E12"/>
          </a:solidFill>
          <a:ln w="12700">
            <a:solidFill>
              <a:srgbClr val="3A3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779776"/>
            <a:ext cx="3054096" cy="1225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E3B62C"/>
                </a:solidFill>
                <a:latin typeface="Georgia"/>
              </a:rPr>
              <a:t>$60 099</a:t>
            </a:r>
          </a:p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DF6"/>
                </a:solidFill>
                <a:latin typeface="Arial"/>
              </a:rPr>
              <a:t>медианный доход домохозяйства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B9786"/>
                </a:solidFill>
                <a:latin typeface="Arial"/>
              </a:rPr>
              <a:t>радиус 2 мили от ресторана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560320"/>
            <a:ext cx="3566160" cy="1737360"/>
          </a:xfrm>
          <a:prstGeom prst="roundRect">
            <a:avLst>
              <a:gd name="adj" fmla="val 7000"/>
            </a:avLst>
          </a:prstGeom>
          <a:solidFill>
            <a:srgbClr val="1E1E12"/>
          </a:solidFill>
          <a:ln w="12700">
            <a:solidFill>
              <a:srgbClr val="3A3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2779776"/>
            <a:ext cx="3054096" cy="1225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E3B62C"/>
                </a:solidFill>
                <a:latin typeface="Georgia"/>
              </a:rPr>
              <a:t>$67 691</a:t>
            </a:r>
          </a:p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DF6"/>
                </a:solidFill>
                <a:latin typeface="Arial"/>
              </a:rPr>
              <a:t>медианный доход домохозяйства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B9786"/>
                </a:solidFill>
                <a:latin typeface="Arial"/>
              </a:rPr>
              <a:t>радиус 5 миль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560320"/>
            <a:ext cx="3566160" cy="1737360"/>
          </a:xfrm>
          <a:prstGeom prst="roundRect">
            <a:avLst>
              <a:gd name="adj" fmla="val 7000"/>
            </a:avLst>
          </a:prstGeom>
          <a:solidFill>
            <a:srgbClr val="1E1E12"/>
          </a:solidFill>
          <a:ln w="12700">
            <a:solidFill>
              <a:srgbClr val="3A3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2779776"/>
            <a:ext cx="3054096" cy="1225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E3B62C"/>
                </a:solidFill>
                <a:latin typeface="Georgia"/>
              </a:rPr>
              <a:t>$71 363</a:t>
            </a:r>
          </a:p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DF6"/>
                </a:solidFill>
                <a:latin typeface="Arial"/>
              </a:rPr>
              <a:t>медианный доход домохозяйства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B9786"/>
                </a:solidFill>
                <a:latin typeface="Arial"/>
              </a:rPr>
              <a:t>радиус 10 миль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80560"/>
            <a:ext cx="3566160" cy="1600200"/>
          </a:xfrm>
          <a:prstGeom prst="roundRect">
            <a:avLst>
              <a:gd name="adj" fmla="val 7000"/>
            </a:avLst>
          </a:prstGeom>
          <a:solidFill>
            <a:srgbClr val="1E1E12"/>
          </a:solidFill>
          <a:ln w="12700">
            <a:solidFill>
              <a:srgbClr val="3A3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700016"/>
            <a:ext cx="305409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E3B62C"/>
                </a:solidFill>
                <a:latin typeface="Georgia"/>
              </a:rPr>
              <a:t>42 253 → 45 179</a:t>
            </a:r>
          </a:p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DF6"/>
                </a:solidFill>
                <a:latin typeface="Arial"/>
              </a:rPr>
              <a:t>домохозяйств в 2 милях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B9786"/>
                </a:solidFill>
                <a:latin typeface="Arial"/>
              </a:rPr>
              <a:t>+6,9% к 2030 году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4480560"/>
            <a:ext cx="3566160" cy="1600200"/>
          </a:xfrm>
          <a:prstGeom prst="roundRect">
            <a:avLst>
              <a:gd name="adj" fmla="val 7000"/>
            </a:avLst>
          </a:prstGeom>
          <a:solidFill>
            <a:srgbClr val="1E1E12"/>
          </a:solidFill>
          <a:ln w="12700">
            <a:solidFill>
              <a:srgbClr val="3A3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4700016"/>
            <a:ext cx="305409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E3B62C"/>
                </a:solidFill>
                <a:latin typeface="Georgia"/>
              </a:rPr>
              <a:t>$443 846</a:t>
            </a:r>
          </a:p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DF6"/>
                </a:solidFill>
                <a:latin typeface="Arial"/>
              </a:rPr>
              <a:t>медианная стоимость жилья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B9786"/>
                </a:solidFill>
                <a:latin typeface="Arial"/>
              </a:rPr>
              <a:t>владельцы домов — аудитория ресторана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480560"/>
            <a:ext cx="3566160" cy="1600200"/>
          </a:xfrm>
          <a:prstGeom prst="roundRect">
            <a:avLst>
              <a:gd name="adj" fmla="val 7000"/>
            </a:avLst>
          </a:prstGeom>
          <a:solidFill>
            <a:srgbClr val="1E1E12"/>
          </a:solidFill>
          <a:ln w="12700">
            <a:solidFill>
              <a:srgbClr val="3A3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2" y="4700016"/>
            <a:ext cx="305409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E3B62C"/>
                </a:solidFill>
                <a:latin typeface="Georgia"/>
              </a:rPr>
              <a:t>44 года</a:t>
            </a:r>
          </a:p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DF6"/>
                </a:solidFill>
                <a:latin typeface="Arial"/>
              </a:rPr>
              <a:t>средний возраст жителей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B9786"/>
                </a:solidFill>
                <a:latin typeface="Arial"/>
              </a:rPr>
              <a:t>стабильная взрослая клиентская база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19088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B9786"/>
                </a:solidFill>
                <a:latin typeface="Arial"/>
              </a:rPr>
              <a:t>Источник: CoStar Group, Multi-Family Market Report (Fort Lauderdale, Q3 2026), демография по радиусу 1801–1848 N Young Cir, отчёт от 02.09.2026 · PDF: PDF090226_CoStar_YoungCircle.pdf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19088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B978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CC558"/>
                </a:solidFill>
                <a:latin typeface="Arial"/>
              </a:rPr>
              <a:t>ГОЛЛИВУД · ФЛОРИДА ·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 i="0">
                <a:solidFill>
                  <a:srgbClr val="FFFDF6"/>
                </a:solidFill>
                <a:latin typeface="Georgia"/>
              </a:rPr>
              <a:t>Город застраивается — </a:t>
            </a:r>
            <a:r>
              <a:rPr sz="4000" b="1" i="0">
                <a:solidFill>
                  <a:srgbClr val="E3B62C"/>
                </a:solidFill>
                <a:latin typeface="Georgia"/>
              </a:rPr>
              <a:t>спрос опережает предложение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9B9786"/>
                </a:solidFill>
                <a:latin typeface="Arial"/>
              </a:rPr>
              <a:t>Субмаркет Hollywood / Dania Beach и рынок Fort Lauderdale (CoStar, Q3 2026)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60320"/>
            <a:ext cx="3566160" cy="1737360"/>
          </a:xfrm>
          <a:prstGeom prst="roundRect">
            <a:avLst>
              <a:gd name="adj" fmla="val 7000"/>
            </a:avLst>
          </a:prstGeom>
          <a:solidFill>
            <a:srgbClr val="1E1E12"/>
          </a:solidFill>
          <a:ln w="12700">
            <a:solidFill>
              <a:srgbClr val="3A3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779776"/>
            <a:ext cx="3054096" cy="1225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E3B62C"/>
                </a:solidFill>
                <a:latin typeface="Georgia"/>
              </a:rPr>
              <a:t>868</a:t>
            </a:r>
          </a:p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DF6"/>
                </a:solidFill>
                <a:latin typeface="Arial"/>
              </a:rPr>
              <a:t>квартир построено за 12 месяцев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B9786"/>
                </a:solidFill>
                <a:latin typeface="Arial"/>
              </a:rPr>
              <a:t>в субмаркете Hollywood / Dania Beach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560320"/>
            <a:ext cx="3566160" cy="1737360"/>
          </a:xfrm>
          <a:prstGeom prst="roundRect">
            <a:avLst>
              <a:gd name="adj" fmla="val 7000"/>
            </a:avLst>
          </a:prstGeom>
          <a:solidFill>
            <a:srgbClr val="1E1E12"/>
          </a:solidFill>
          <a:ln w="12700">
            <a:solidFill>
              <a:srgbClr val="3A3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2779776"/>
            <a:ext cx="3054096" cy="1225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E3B62C"/>
                </a:solidFill>
                <a:latin typeface="Georgia"/>
              </a:rPr>
              <a:t>624</a:t>
            </a:r>
          </a:p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DF6"/>
                </a:solidFill>
                <a:latin typeface="Arial"/>
              </a:rPr>
              <a:t>квартир строится прямо сейчас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B9786"/>
                </a:solidFill>
                <a:latin typeface="Arial"/>
              </a:rPr>
              <a:t>+2,9% к жилому фонду района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560320"/>
            <a:ext cx="3566160" cy="1737360"/>
          </a:xfrm>
          <a:prstGeom prst="roundRect">
            <a:avLst>
              <a:gd name="adj" fmla="val 7000"/>
            </a:avLst>
          </a:prstGeom>
          <a:solidFill>
            <a:srgbClr val="1E1E12"/>
          </a:solidFill>
          <a:ln w="12700">
            <a:solidFill>
              <a:srgbClr val="3A3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2779776"/>
            <a:ext cx="3054096" cy="1225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E3B62C"/>
                </a:solidFill>
                <a:latin typeface="Georgia"/>
              </a:rPr>
              <a:t>+1,1%</a:t>
            </a:r>
          </a:p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DF6"/>
                </a:solidFill>
                <a:latin typeface="Arial"/>
              </a:rPr>
              <a:t>рост аренды за год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B9786"/>
                </a:solidFill>
                <a:latin typeface="Arial"/>
              </a:rPr>
              <a:t>2-й результат из 9 субмаркетов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80560"/>
            <a:ext cx="3566160" cy="1600200"/>
          </a:xfrm>
          <a:prstGeom prst="roundRect">
            <a:avLst>
              <a:gd name="adj" fmla="val 7000"/>
            </a:avLst>
          </a:prstGeom>
          <a:solidFill>
            <a:srgbClr val="1E1E12"/>
          </a:solidFill>
          <a:ln w="12700">
            <a:solidFill>
              <a:srgbClr val="3A3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700016"/>
            <a:ext cx="305409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E3B62C"/>
                </a:solidFill>
                <a:latin typeface="Georgia"/>
              </a:rPr>
              <a:t>$2 160</a:t>
            </a:r>
          </a:p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DF6"/>
                </a:solidFill>
                <a:latin typeface="Arial"/>
              </a:rPr>
              <a:t>средняя ставка аренды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B9786"/>
                </a:solidFill>
                <a:latin typeface="Arial"/>
              </a:rPr>
              <a:t>в субмаркете Hollywood / Dania Beach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4480560"/>
            <a:ext cx="3566160" cy="1600200"/>
          </a:xfrm>
          <a:prstGeom prst="roundRect">
            <a:avLst>
              <a:gd name="adj" fmla="val 7000"/>
            </a:avLst>
          </a:prstGeom>
          <a:solidFill>
            <a:srgbClr val="1E1E12"/>
          </a:solidFill>
          <a:ln w="12700">
            <a:solidFill>
              <a:srgbClr val="3A3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4700016"/>
            <a:ext cx="305409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E3B62C"/>
                </a:solidFill>
                <a:latin typeface="Georgia"/>
              </a:rPr>
              <a:t>6 345</a:t>
            </a:r>
          </a:p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DF6"/>
                </a:solidFill>
                <a:latin typeface="Arial"/>
              </a:rPr>
              <a:t>квартир строится в рынке Ft. Lauderdale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B9786"/>
                </a:solidFill>
                <a:latin typeface="Arial"/>
              </a:rPr>
              <a:t>инвестиции $1,5 млрд за год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480560"/>
            <a:ext cx="3566160" cy="1600200"/>
          </a:xfrm>
          <a:prstGeom prst="roundRect">
            <a:avLst>
              <a:gd name="adj" fmla="val 7000"/>
            </a:avLst>
          </a:prstGeom>
          <a:solidFill>
            <a:srgbClr val="1E1E12"/>
          </a:solidFill>
          <a:ln w="12700">
            <a:solidFill>
              <a:srgbClr val="3A3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2" y="4700016"/>
            <a:ext cx="305409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E3B62C"/>
                </a:solidFill>
                <a:latin typeface="Georgia"/>
              </a:rPr>
              <a:t>311</a:t>
            </a:r>
          </a:p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DF6"/>
                </a:solidFill>
                <a:latin typeface="Arial"/>
              </a:rPr>
              <a:t>квартир — новый дом у Young Circle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B9786"/>
                </a:solidFill>
                <a:latin typeface="Arial"/>
              </a:rPr>
              <a:t>комплекс Radius, 1801–1848 N Young Cir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19088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B9786"/>
                </a:solidFill>
                <a:latin typeface="Arial"/>
              </a:rPr>
              <a:t>Источник: CoStar Group, Multi-Family Market Report (Fort Lauderdale, Q3 2026), демография по радиусу 1801–1848 N Young Cir, отчёт от 02.09.2026 · PDF: PDF090226_CoStar_YoungCircle.pdf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19088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B978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