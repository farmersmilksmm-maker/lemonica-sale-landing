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C558"/>
                </a:solidFill>
                <a:latin typeface="Arial"/>
              </a:rPr>
              <a:t>ГОЛЛИВУД · ФЛОРИДА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DF6"/>
                </a:solidFill>
                <a:latin typeface="Georgia"/>
              </a:rPr>
              <a:t>Район растёт: </a:t>
            </a:r>
            <a:r>
              <a:rPr sz="4000" b="1" i="0">
                <a:solidFill>
                  <a:srgbClr val="E3B62C"/>
                </a:solidFill>
                <a:latin typeface="Georgia"/>
              </a:rPr>
              <a:t>+</a:t>
            </a:r>
            <a:r>
              <a:rPr sz="4000" b="1" i="0">
                <a:solidFill>
                  <a:srgbClr val="E3B62C"/>
                </a:solidFill>
                <a:latin typeface="Georgia"/>
              </a:rPr>
              <a:t>90 000 жителей</a:t>
            </a:r>
            <a:r>
              <a:rPr sz="4000" b="1" i="0">
                <a:solidFill>
                  <a:srgbClr val="FFFDF6"/>
                </a:solidFill>
                <a:latin typeface="Georgia"/>
              </a:rPr>
              <a:t> за 5 лет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B9786"/>
                </a:solidFill>
                <a:latin typeface="Arial"/>
              </a:rPr>
              <a:t>Радиус 10 миль от ресторана — прогноз CoStar, 2025 → 2030</a:t>
            </a:r>
          </a:p>
        </p:txBody>
      </p:sp>
      <p:sp>
        <p:nvSpPr>
          <p:cNvPr id="6" name="Rectangle 5"/>
          <p:cNvSpPr/>
          <p:nvPr/>
        </p:nvSpPr>
        <p:spPr>
          <a:xfrm>
            <a:off x="1645920" y="2882029"/>
            <a:ext cx="1371600" cy="2330050"/>
          </a:xfrm>
          <a:prstGeom prst="rect">
            <a:avLst/>
          </a:prstGeom>
          <a:solidFill>
            <a:srgbClr val="4A4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97981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9B9786"/>
                </a:solidFill>
                <a:latin typeface="Georgia"/>
              </a:rPr>
              <a:t>1,21 млн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532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DF6"/>
                </a:solidFill>
                <a:latin typeface="Arial"/>
              </a:rPr>
              <a:t>2025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706872"/>
            <a:ext cx="1371600" cy="2505207"/>
          </a:xfrm>
          <a:prstGeom prst="rect">
            <a:avLst/>
          </a:prstGeom>
          <a:solidFill>
            <a:srgbClr val="E3B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322824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 i="0">
                <a:solidFill>
                  <a:srgbClr val="ECC558"/>
                </a:solidFill>
                <a:latin typeface="Georgia"/>
              </a:rPr>
              <a:t>1,30 млн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553212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DF6"/>
                </a:solidFill>
                <a:latin typeface="Arial"/>
              </a:rPr>
              <a:t>2030 (прогноз)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926080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3B62C"/>
                </a:solidFill>
                <a:latin typeface="Georgia"/>
              </a:rPr>
              <a:t>+7,5% за 5 лет  ·  +90 736 человек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2514600"/>
            <a:ext cx="3383280" cy="141732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2734056"/>
            <a:ext cx="2871216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1,30 млн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жителей в радиусе 10 миль — 2030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сегодня 1,21 млн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4069080"/>
            <a:ext cx="3383280" cy="141732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1352" y="4288536"/>
            <a:ext cx="2871216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463 898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домохозяйств в радиусе 10 миль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+7,6% к 2030 году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B9786"/>
                </a:solidFill>
                <a:latin typeface="Arial"/>
              </a:rPr>
              <a:t>Источник: CoStar Group, Multi-Family Market Report (Fort Lauderdale, Q3 2026), демография по радиусу 1801–1848 N Young Cir, отчёт от 02.09.2026 · PDF: PDF090226_CoStar_YoungCircle.pdf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92840" y="641908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B978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C558"/>
                </a:solidFill>
                <a:latin typeface="Arial"/>
              </a:rPr>
              <a:t>ГОЛЛИВУД · ФЛОРИДА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DF6"/>
                </a:solidFill>
                <a:latin typeface="Georgia"/>
              </a:rPr>
              <a:t>Кто живет рядом: </a:t>
            </a:r>
            <a:r>
              <a:rPr sz="4000" b="1" i="0">
                <a:solidFill>
                  <a:srgbClr val="E3B62C"/>
                </a:solidFill>
                <a:latin typeface="Georgia"/>
              </a:rPr>
              <a:t>1,3 млн человек с доходом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B9786"/>
                </a:solidFill>
                <a:latin typeface="Arial"/>
              </a:rPr>
              <a:t>Радиус 10 миль от Young Circle — CoStar, 2025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566160" cy="173736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779776"/>
            <a:ext cx="305409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$71 363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медианный доход домохозяйства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выше среднего по стране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560320"/>
            <a:ext cx="3566160" cy="173736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779776"/>
            <a:ext cx="305409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$451 881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медианная стоимость жилья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владельцы домов — аудитория ресторана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60320"/>
            <a:ext cx="3566160" cy="173736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779776"/>
            <a:ext cx="305409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41 год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средний возраст жителей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активная платёжеспособная аудитория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3566160" cy="160020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700016"/>
            <a:ext cx="3054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2,5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человека в среднем домохозяйстве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семейный формат посещений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480560"/>
            <a:ext cx="3566160" cy="160020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4700016"/>
            <a:ext cx="3054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463 898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домохозяйств в радиусе 10 миль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+7,6% к 2030 году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480560"/>
            <a:ext cx="3566160" cy="160020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700016"/>
            <a:ext cx="3054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920 000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рабочих мест в рынке Ft. Lauderdale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поток гостей на ланч и ужин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B9786"/>
                </a:solidFill>
                <a:latin typeface="Arial"/>
              </a:rPr>
              <a:t>Источник: CoStar Group, Multi-Family Market Report (Fort Lauderdale, Q3 2026), демография по радиусу 1801–1848 N Young Cir, отчёт от 02.09.2026 · PDF: PDF090226_CoStar_YoungCircle.pdf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B978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CC558"/>
                </a:solidFill>
                <a:latin typeface="Arial"/>
              </a:rPr>
              <a:t>ГОЛЛИВУД · ФЛОРИДА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DF6"/>
                </a:solidFill>
                <a:latin typeface="Georgia"/>
              </a:rPr>
              <a:t>Город застраивается — </a:t>
            </a:r>
            <a:r>
              <a:rPr sz="4000" b="1" i="0">
                <a:solidFill>
                  <a:srgbClr val="E3B62C"/>
                </a:solidFill>
                <a:latin typeface="Georgia"/>
              </a:rPr>
              <a:t>спрос опережает предложение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B9786"/>
                </a:solidFill>
                <a:latin typeface="Arial"/>
              </a:rPr>
              <a:t>Субмаркет Hollywood / Dania Beach и рынок Fort Lauderdale (CoStar, Q3 2026)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560320"/>
            <a:ext cx="3566160" cy="173736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779776"/>
            <a:ext cx="305409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868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квартир построено за 12 месяцев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в субмаркете Hollywood / Dania Beach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560320"/>
            <a:ext cx="3566160" cy="173736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2" y="2779776"/>
            <a:ext cx="305409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624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квартир строится прямо сейчас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+2,9% к жилому фонду района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560320"/>
            <a:ext cx="3566160" cy="173736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2779776"/>
            <a:ext cx="3054096" cy="12252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+1,1%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рост аренды за год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2-й результат из 9 субмаркетов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80560"/>
            <a:ext cx="3566160" cy="160020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700016"/>
            <a:ext cx="3054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$2 160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средняя ставка аренды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в субмаркете Hollywood / Dania Beach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480560"/>
            <a:ext cx="3566160" cy="160020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9432" y="4700016"/>
            <a:ext cx="3054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6 345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квартир строится в рынке Ft. Lauderdale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инвестиции $1,5 млрд за год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480560"/>
            <a:ext cx="3566160" cy="1600200"/>
          </a:xfrm>
          <a:prstGeom prst="roundRect">
            <a:avLst>
              <a:gd name="adj" fmla="val 7000"/>
            </a:avLst>
          </a:prstGeom>
          <a:solidFill>
            <a:srgbClr val="1E1E12"/>
          </a:solidFill>
          <a:ln w="12700">
            <a:solidFill>
              <a:srgbClr val="3A3A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4700016"/>
            <a:ext cx="3054096" cy="1088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</a:pPr>
            <a:r>
              <a:rPr sz="2800" b="1" i="0">
                <a:solidFill>
                  <a:srgbClr val="E3B62C"/>
                </a:solidFill>
                <a:latin typeface="Georgia"/>
              </a:rPr>
              <a:t>311</a:t>
            </a:r>
          </a:p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 i="0">
                <a:solidFill>
                  <a:srgbClr val="FFFDF6"/>
                </a:solidFill>
                <a:latin typeface="Arial"/>
              </a:rPr>
              <a:t>квартир — новый дом у Young Circle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9B9786"/>
                </a:solidFill>
                <a:latin typeface="Arial"/>
              </a:rPr>
              <a:t>комплекс Radius, 1801–1848 N Young Cir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19088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B9786"/>
                </a:solidFill>
                <a:latin typeface="Arial"/>
              </a:rPr>
              <a:t>Источник: CoStar Group, Multi-Family Market Report (Fort Lauderdale, Q3 2026), демография по радиусу 1801–1848 N Young Cir, отчёт от 02.09.2026 · PDF: PDF090226_CoStar_YoungCircle.pdf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19088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9B978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