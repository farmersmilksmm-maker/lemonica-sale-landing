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armersmilksmm-maker.github.io/lemonica-sale-landing/PDF090226_CoStar_YoungCircle.pdf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farmersmilksmm-maker.github.io/lemonica-sale-landing/PDF090226_CoStar_YoungCircle.pd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emonica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47472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B4C"/>
                </a:solidFill>
                <a:latin typeface="Arial"/>
              </a:rPr>
              <a:t>ГОЛЛИВУД · ФЛОРИДА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26251B"/>
                </a:solidFill>
                <a:latin typeface="Georgia"/>
              </a:rPr>
              <a:t>Район растёт: </a:t>
            </a:r>
            <a:r>
              <a:rPr sz="3800" b="1" i="0">
                <a:solidFill>
                  <a:srgbClr val="8C6A0A"/>
                </a:solidFill>
                <a:latin typeface="Georgia"/>
              </a:rPr>
              <a:t>+90 000 жителей за 5 лет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A5C"/>
                </a:solidFill>
                <a:latin typeface="Arial"/>
              </a:rPr>
              <a:t>Радиус 10 миль от ресторана — прогноз CoStar, 2025 → 2030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893457"/>
            <a:ext cx="1325880" cy="1907142"/>
          </a:xfrm>
          <a:prstGeom prst="rect">
            <a:avLst/>
          </a:prstGeom>
          <a:solidFill>
            <a:srgbClr val="CBC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91121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6E6A5C"/>
                </a:solidFill>
                <a:latin typeface="Georgia"/>
              </a:rPr>
              <a:t>1,21 млн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11495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51B"/>
                </a:solidFill>
                <a:latin typeface="Arial"/>
              </a:rPr>
              <a:t>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750091"/>
            <a:ext cx="1325880" cy="2050508"/>
          </a:xfrm>
          <a:prstGeom prst="rect">
            <a:avLst/>
          </a:prstGeom>
          <a:solidFill>
            <a:srgbClr val="E3B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347755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8C6A0A"/>
                </a:solidFill>
                <a:latin typeface="Georgia"/>
              </a:rPr>
              <a:t>1,30 млн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111495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6251B"/>
                </a:solidFill>
                <a:latin typeface="Arial"/>
              </a:rPr>
              <a:t>2030 (прогноз)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95543"/>
            <a:ext cx="6583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6A5C"/>
                </a:solidFill>
                <a:latin typeface="Arial"/>
              </a:rPr>
              <a:t>Контекст: перепись 2020 — город Голливуд 153 067 жителей; CoStar даёт оценки 2025/2030 для радиусных колец.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824727"/>
            <a:ext cx="5120640" cy="475488"/>
          </a:xfrm>
          <a:prstGeom prst="roundRect">
            <a:avLst>
              <a:gd name="adj" fmla="val 50000"/>
            </a:avLst>
          </a:prstGeom>
          <a:solidFill>
            <a:srgbClr val="E3B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897879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3D2E04"/>
                </a:solidFill>
                <a:latin typeface="Arial"/>
              </a:rPr>
              <a:t>+7,5% за 5 лет · +90 736 человек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487168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743200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743200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$71 363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доход домохозяйств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медианный · 10 миль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487168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46920" y="2743200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743200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41 год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средний возраст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радиус 10 миль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169663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4425696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425696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$451 881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цена жилья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медианная · 10 миль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4169663"/>
            <a:ext cx="2240280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4425696"/>
            <a:ext cx="64008" cy="1024127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4425696"/>
            <a:ext cx="1600200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463 898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домохозяйств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+7,6% к 2030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373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E6A5C"/>
                </a:solidFill>
                <a:latin typeface="Arial"/>
              </a:rPr>
              <a:t>Источник: CoStar Group, отчёт по 1801–1848 N Young Cir, 02.09.2026 · PDF: </a:t>
            </a:r>
            <a:r>
              <a:rPr sz="1300" b="1" u="sng">
                <a:solidFill>
                  <a:srgbClr val="8C6A0A"/>
                </a:solidFill>
                <a:latin typeface="Arial"/>
                <a:hlinkClick r:id="rId3"/>
              </a:rPr>
              <a:t>PDF090226_CoStar_YoungCircle.pdf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3737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E6A5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emonica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47472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C6B4C"/>
                </a:solidFill>
                <a:latin typeface="Arial"/>
              </a:rPr>
              <a:t>ГОЛЛИВУД · ФЛОРИДА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1" i="0">
                <a:solidFill>
                  <a:srgbClr val="26251B"/>
                </a:solidFill>
                <a:latin typeface="Georgia"/>
              </a:rPr>
              <a:t>Город застраивается: </a:t>
            </a:r>
            <a:r>
              <a:rPr sz="3800" b="1" i="0">
                <a:solidFill>
                  <a:srgbClr val="8C6A0A"/>
                </a:solidFill>
                <a:latin typeface="Georgia"/>
              </a:rPr>
              <a:t>спрос опережает предложение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6A5C"/>
                </a:solidFill>
                <a:latin typeface="Arial"/>
              </a:rPr>
              <a:t>Субмаркет Hollywood / Dania Beach и рынок Fort Lauderdale — CoStar, Q3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868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построено за 12 месяцев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в субмаркете Hollywood / Dania Beach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624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строится прямо сейчас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+2,9% к жилому фонду района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51460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1856" y="277063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77063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+1,1%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рост аренды за год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2-й результат из 9 субмаркетов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6 345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в стройке по рынку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инвестиции $1,5 млрд за год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920 000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рабочих мест в рынке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поток гостей на ланч и ужин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43891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D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1856" y="4645152"/>
            <a:ext cx="64008" cy="1179576"/>
          </a:xfrm>
          <a:prstGeom prst="rect">
            <a:avLst/>
          </a:prstGeom>
          <a:solidFill>
            <a:srgbClr val="8C6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4645152"/>
            <a:ext cx="292607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700" b="1" i="0">
                <a:solidFill>
                  <a:srgbClr val="8C6A0A"/>
                </a:solidFill>
                <a:latin typeface="Georgia"/>
              </a:rPr>
              <a:t>311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6251B"/>
                </a:solidFill>
                <a:latin typeface="Arial"/>
              </a:rPr>
              <a:t>квартир — новый дом у Young Circle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A5C"/>
                </a:solidFill>
                <a:latin typeface="Arial"/>
              </a:rPr>
              <a:t>комплекс Radius, N Young Cir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37376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>
                <a:solidFill>
                  <a:srgbClr val="6E6A5C"/>
                </a:solidFill>
                <a:latin typeface="Arial"/>
              </a:rPr>
              <a:t>Источник: CoStar Group, отчёт по 1801–1848 N Young Cir, 02.09.2026 · PDF: </a:t>
            </a:r>
            <a:r>
              <a:rPr sz="1300" b="1" u="sng">
                <a:solidFill>
                  <a:srgbClr val="8C6A0A"/>
                </a:solidFill>
                <a:latin typeface="Arial"/>
                <a:hlinkClick r:id="rId3"/>
              </a:rPr>
              <a:t>PDF090226_CoStar_YoungCircle.pdf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37376"/>
            <a:ext cx="365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6E6A5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